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DSA 210 – Project Phase III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Premier League Player Performance vs Market Value</a:t>
            </a:r>
          </a:p>
          <a:p>
            <a:r>
              <a:t>Alper Güz – 32488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Goal: Analyse how Premier League player performance relates to end-of-season market values.</a:t>
            </a:r>
          </a:p>
          <a:p>
            <a:pPr/>
            <a:r>
              <a:t>Season: 2024/25 Premier League.</a:t>
            </a:r>
          </a:p>
          <a:p>
            <a:pPr/>
            <a:r>
              <a:t>Research question: Which performance metrics are significantly associated with market value after controlling for minutes and age?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FBref Premier League 2024/25 player statistics:</a:t>
            </a:r>
          </a:p>
          <a:p>
            <a:pPr/>
            <a:r>
              <a:t> • Goals (Gls), Assists (Ast), Minutes (Min), xG, xAG, npxG, Age, Position, Squad.</a:t>
            </a:r>
          </a:p>
          <a:p>
            <a:pPr/>
            <a:r>
              <a:t>Transfermarkt 2024/25 player market values:</a:t>
            </a:r>
          </a:p>
          <a:p>
            <a:pPr/>
            <a:r>
              <a:t> • End-of-season market value in Euros.</a:t>
            </a:r>
          </a:p>
          <a:p>
            <a:pPr/>
            <a:r>
              <a:t>Datasets merged on a cleaned player name key (player_clean).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Cleaned Transfermarkt player names (removed numbers, dashes, position suffixes).</a:t>
            </a:r>
          </a:p>
          <a:p>
            <a:pPr/>
            <a:r>
              <a:t>Converted market values like “€40.00m” and “€400k” to numeric MarketValue_eur.</a:t>
            </a:r>
          </a:p>
          <a:p>
            <a:pPr/>
            <a:r>
              <a:t>Standardised player names in both datasets to lowercase (player_clean).</a:t>
            </a:r>
          </a:p>
          <a:p>
            <a:pPr/>
            <a:r>
              <a:t>Merged FBref stats and Transfermarkt values on player_clean (inner join).</a:t>
            </a:r>
          </a:p>
          <a:p>
            <a:pPr/>
            <a:r>
              <a:t>Filtered to players with at least 300 minutes played to reduce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Response variable: log(1 + MarketValue_eur) to reduce skew.</a:t>
            </a:r>
          </a:p>
          <a:p>
            <a:pPr/>
            <a:r>
              <a:t>Predictors: Gls, Ast, Min, xG, xAG, Age.</a:t>
            </a:r>
          </a:p>
          <a:p>
            <a:pPr/>
            <a:r>
              <a:t>Model: multiple linear regression (ordinary least squares).</a:t>
            </a:r>
          </a:p>
          <a:p>
            <a:pPr/>
            <a:r>
              <a:t>Train–test split: 80% training, 20% test (random_state=42).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Model: log(1 + MV) = β₀ + β₁Gls + β₂Ast + β₃Min + β₄xG + β₅xAG + β₆Age + ε.</a:t>
            </a:r>
          </a:p>
          <a:p>
            <a:pPr/>
            <a:r>
              <a:t>Global H₀: After controlling for Min and Age, Gls, Ast, xG, xAG have no linear effect on market value.</a:t>
            </a:r>
          </a:p>
          <a:p>
            <a:pPr/>
            <a:r>
              <a:t> • H₀: β₁ = β₂ = β₄ = β₅ = 0.</a:t>
            </a:r>
          </a:p>
          <a:p>
            <a:pPr/>
            <a:r>
              <a:t>Global H₁: At least one of β₁, β₂, β₄, β₅ ≠ 0.</a:t>
            </a:r>
          </a:p>
          <a:p>
            <a:pPr/>
            <a:r>
              <a:t>Directional interest: more goals / xG should increase market value (β₁ &gt; 0, β₄ &gt; 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Evaluation metrics:</a:t>
            </a:r>
          </a:p>
          <a:p>
            <a:pPr/>
            <a:r>
              <a:t> • R² on training and test sets.</a:t>
            </a:r>
          </a:p>
          <a:p>
            <a:pPr/>
            <a:r>
              <a:t> • RMSE on log(1 + market value).</a:t>
            </a:r>
          </a:p>
          <a:p>
            <a:pPr/>
            <a:r>
              <a:t>Interpretation:</a:t>
            </a:r>
          </a:p>
          <a:p>
            <a:pPr/>
            <a:r>
              <a:t> • R²: proportion of variance in log market value explained by the model.</a:t>
            </a:r>
          </a:p>
          <a:p>
            <a:pPr/>
            <a:r>
              <a:t> • RMSE: typical prediction error in log(1 + €).</a:t>
            </a:r>
          </a:p>
          <a:p>
            <a:pPr/>
            <a:r>
              <a:t>Insert your actual Train/Test R² and RMSE from the notebook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Coefficients (Interpretation)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From the regression / OLS output:</a:t>
            </a:r>
          </a:p>
          <a:p>
            <a:pPr/>
            <a:r>
              <a:t> • Minutes (Min): positive coefficient → players who play more tend to be valued higher.</a:t>
            </a:r>
          </a:p>
          <a:p>
            <a:pPr/>
            <a:r>
              <a:t> • Age: negative coefficient → younger players tend to have higher market values.</a:t>
            </a:r>
          </a:p>
          <a:p>
            <a:pPr/>
            <a:r>
              <a:t> • Gls, Ast, xG, xAG: performance metrics whose significance is tested in the model.</a:t>
            </a:r>
          </a:p>
          <a:p>
            <a:pPr/>
            <a:r>
              <a:t>Signs and magnitudes of coefficients show direction and strength of association.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Used statsmodels OLS summary to obtain p-values for each coefficient.</a:t>
            </a:r>
          </a:p>
          <a:p>
            <a:pPr/>
            <a:r>
              <a:t>Decision rule (α = 0.05):</a:t>
            </a:r>
          </a:p>
          <a:p>
            <a:pPr/>
            <a:r>
              <a:t> • p-value &lt; 0.05 → reject H₀ for that coefficient (significant effect).</a:t>
            </a:r>
          </a:p>
          <a:p>
            <a:pPr/>
            <a:r>
              <a:t> • p-value ≥ 0.05 → fail to reject H₀ (no strong evidence of effect).</a:t>
            </a:r>
          </a:p>
          <a:p>
            <a:pPr/>
            <a:r>
              <a:t>Global decision: based on p-values of Gls, Ast, xG, xAG, decide whether to reject or fail to reject the global H₀.</a:t>
            </a:r>
          </a:p>
          <a:p>
            <a:pPr/>
            <a:r>
              <a:t>Summarise which variables were significant in your actual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Results (from Notebook)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From the Phase III notebook, include screenshots of:</a:t>
            </a:r>
          </a:p>
          <a:p>
            <a:pPr/>
            <a:r>
              <a:t> • Distribution of MarketValue_eur.</a:t>
            </a:r>
          </a:p>
          <a:p>
            <a:pPr/>
            <a:r>
              <a:t> • Goals vs Market Value (Players with ≥ 500 minutes).</a:t>
            </a:r>
          </a:p>
          <a:p>
            <a:pPr/>
            <a:r>
              <a:t> • Assists vs Market Value.</a:t>
            </a:r>
          </a:p>
          <a:p>
            <a:pPr/>
            <a:r>
              <a:t> • Minutes vs Market Value.</a:t>
            </a:r>
          </a:p>
          <a:p>
            <a:pPr/>
            <a:r>
              <a:t> • Correlation heatmap of Gls, Ast, Min, xG, xAG, npxG, MarketValue_eur.</a:t>
            </a:r>
          </a:p>
          <a:p>
            <a:pPr/>
            <a:r>
              <a:t>These visuals support and illustrate the regression findings.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Market value is influenced by both playing time and age:</a:t>
            </a:r>
          </a:p>
          <a:p>
            <a:pPr/>
            <a:r>
              <a:t> • Regular starters are valued higher.</a:t>
            </a:r>
          </a:p>
          <a:p>
            <a:pPr/>
            <a:r>
              <a:t> • Younger players tend to have higher transfer values due to potential.</a:t>
            </a:r>
          </a:p>
          <a:p>
            <a:pPr/>
            <a:r>
              <a:t>Scoring metrics may add signal but can be partly captured by minutes and age.</a:t>
            </a:r>
          </a:p>
          <a:p>
            <a:pPr/>
            <a:r>
              <a:t>Results highlight that valuation is multi-factor and not only about goals and assists.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Only one season (2024/25) analysed, may not capture long-term trends.</a:t>
            </a:r>
          </a:p>
          <a:p>
            <a:pPr/>
            <a:r>
              <a:t>Transfermarkt market values are estimates, not actual transfer fees.</a:t>
            </a:r>
          </a:p>
          <a:p>
            <a:pPr/>
            <a:r>
              <a:t>Model is linear and may not capture complex non-linear relationships.</a:t>
            </a:r>
          </a:p>
          <a:p>
            <a:pPr/>
            <a:r>
              <a:t>Important factors omitted: position-specific effects, wages, contract length, injuries, club finances, marketing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Extend analysis to multiple seasons for more robust conclusions.</a:t>
            </a:r>
          </a:p>
          <a:p>
            <a:pPr/>
            <a:r>
              <a:t>Include position dummies and additional player attributes (previous seasons, contract years remaining).</a:t>
            </a:r>
          </a:p>
          <a:p>
            <a:pPr/>
            <a:r>
              <a:t>Build more flexible models (Random Forest, Gradient Boosting, XGBoost).</a:t>
            </a:r>
          </a:p>
          <a:p>
            <a:pPr/>
            <a:r>
              <a:t>Compare models using cross-validation and additional evaluation metrics.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Built a regression model linking Premier League performance metrics to market value.</a:t>
            </a:r>
          </a:p>
          <a:p>
            <a:pPr/>
            <a:r>
              <a:t>Defined and tested clear hypotheses about the impact of goals, assists, xG, minutes, and age.</a:t>
            </a:r>
          </a:p>
          <a:p>
            <a:pPr/>
            <a:r>
              <a:t>Found that playing time and age are key drivers, with performance metrics providing additional signal.</a:t>
            </a:r>
          </a:p>
          <a:p>
            <a:pPr/>
            <a:r>
              <a:t>Phase III shows how statistical modelling and hypothesis testing can be applied to real football data.</a:t>
            </a:r>
          </a:p>
          <a:p>
            <a:pP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